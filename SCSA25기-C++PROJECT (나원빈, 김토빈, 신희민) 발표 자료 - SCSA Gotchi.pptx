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62" r:id="rId4"/>
    <p:sldId id="268" r:id="rId5"/>
    <p:sldId id="276" r:id="rId6"/>
    <p:sldId id="263" r:id="rId7"/>
    <p:sldId id="269" r:id="rId8"/>
    <p:sldId id="282" r:id="rId9"/>
    <p:sldId id="289" r:id="rId10"/>
    <p:sldId id="279" r:id="rId11"/>
    <p:sldId id="280" r:id="rId12"/>
    <p:sldId id="281" r:id="rId13"/>
    <p:sldId id="290" r:id="rId14"/>
    <p:sldId id="283" r:id="rId15"/>
    <p:sldId id="264" r:id="rId16"/>
    <p:sldId id="288" r:id="rId17"/>
    <p:sldId id="287" r:id="rId18"/>
    <p:sldId id="285" r:id="rId19"/>
    <p:sldId id="274" r:id="rId20"/>
    <p:sldId id="272" r:id="rId21"/>
    <p:sldId id="273" r:id="rId22"/>
    <p:sldId id="291" r:id="rId23"/>
    <p:sldId id="266" r:id="rId24"/>
    <p:sldId id="267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146A96-AD86-6D5E-6580-85A35ACB728F}" v="1643" dt="2026-01-08T03:03:27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D2CF9D-D6A6-4339-8608-D1D6A195172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FDF3F9-66BB-427B-A80D-A039FAC74EC6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ko-KR" sz="2200" dirty="0">
              <a:ea typeface="+mn-ea"/>
              <a:cs typeface="+mn-cs"/>
            </a:rPr>
            <a:t>프로젝트 개요</a:t>
          </a:r>
          <a:endParaRPr lang="en-US" sz="2200" dirty="0">
            <a:ea typeface="+mn-ea"/>
            <a:cs typeface="+mn-cs"/>
          </a:endParaRPr>
        </a:p>
      </dgm:t>
    </dgm:pt>
    <dgm:pt modelId="{324DB866-F840-4DC1-AEBC-20A1594C133F}" type="parTrans" cxnId="{104EA8D2-B8E4-40E4-B47E-F48A2272098B}">
      <dgm:prSet/>
      <dgm:spPr/>
      <dgm:t>
        <a:bodyPr/>
        <a:lstStyle/>
        <a:p>
          <a:endParaRPr lang="en-US"/>
        </a:p>
      </dgm:t>
    </dgm:pt>
    <dgm:pt modelId="{37E575D7-EFBA-4841-B201-98E247B7C751}" type="sibTrans" cxnId="{104EA8D2-B8E4-40E4-B47E-F48A2272098B}">
      <dgm:prSet/>
      <dgm:spPr/>
      <dgm:t>
        <a:bodyPr/>
        <a:lstStyle/>
        <a:p>
          <a:endParaRPr lang="en-US"/>
        </a:p>
      </dgm:t>
    </dgm:pt>
    <dgm:pt modelId="{7B8E7F6E-DA81-4C2D-95F2-7F6AB2DB3DD8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ko-KR" sz="2200" dirty="0">
              <a:ea typeface="+mn-ea"/>
              <a:cs typeface="+mn-cs"/>
            </a:rPr>
            <a:t>핵심 기능 </a:t>
          </a:r>
          <a:endParaRPr lang="en-US" sz="2200" dirty="0">
            <a:ea typeface="+mn-ea"/>
            <a:cs typeface="+mn-cs"/>
          </a:endParaRPr>
        </a:p>
      </dgm:t>
    </dgm:pt>
    <dgm:pt modelId="{38134888-CF20-4B10-8B3C-ED1BC951189D}" type="parTrans" cxnId="{90B3D3EF-4963-4ACC-84F8-8167489BD19C}">
      <dgm:prSet/>
      <dgm:spPr/>
      <dgm:t>
        <a:bodyPr/>
        <a:lstStyle/>
        <a:p>
          <a:endParaRPr lang="en-US"/>
        </a:p>
      </dgm:t>
    </dgm:pt>
    <dgm:pt modelId="{C8CF4DE1-C4E9-47CD-8365-ACBC17B09B9F}" type="sibTrans" cxnId="{90B3D3EF-4963-4ACC-84F8-8167489BD19C}">
      <dgm:prSet/>
      <dgm:spPr/>
      <dgm:t>
        <a:bodyPr/>
        <a:lstStyle/>
        <a:p>
          <a:endParaRPr lang="en-US"/>
        </a:p>
      </dgm:t>
    </dgm:pt>
    <dgm:pt modelId="{61906CB8-30FA-4727-BB4A-E7281E73A9F5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ko-KR" altLang="en-US" sz="2200" dirty="0">
              <a:latin typeface="Neue Haas Grotesk Text Pro"/>
              <a:ea typeface="+mn-ea"/>
              <a:cs typeface="+mn-cs"/>
            </a:rPr>
            <a:t>설계 </a:t>
          </a:r>
          <a:endParaRPr lang="en-US" sz="2200" dirty="0">
            <a:ea typeface="+mn-ea"/>
            <a:cs typeface="+mn-cs"/>
          </a:endParaRPr>
        </a:p>
      </dgm:t>
    </dgm:pt>
    <dgm:pt modelId="{335E35D1-6E17-4009-BAA6-63D54F205381}" type="parTrans" cxnId="{6E4244EA-ECEF-4AD1-94DC-22A5ADBD8FC5}">
      <dgm:prSet/>
      <dgm:spPr/>
      <dgm:t>
        <a:bodyPr/>
        <a:lstStyle/>
        <a:p>
          <a:endParaRPr lang="en-US"/>
        </a:p>
      </dgm:t>
    </dgm:pt>
    <dgm:pt modelId="{DC410BBB-FFAF-48B4-958C-E8A2C5A05BE2}" type="sibTrans" cxnId="{6E4244EA-ECEF-4AD1-94DC-22A5ADBD8FC5}">
      <dgm:prSet/>
      <dgm:spPr/>
      <dgm:t>
        <a:bodyPr/>
        <a:lstStyle/>
        <a:p>
          <a:endParaRPr lang="en-US"/>
        </a:p>
      </dgm:t>
    </dgm:pt>
    <dgm:pt modelId="{E0D244DE-5EC2-4FD0-8232-F451D3C88F85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ko-KR" altLang="en-US" sz="2200" dirty="0">
              <a:latin typeface="Neue Haas Grotesk Text Pro"/>
              <a:ea typeface="+mn-ea"/>
              <a:cs typeface="+mn-cs"/>
            </a:rPr>
            <a:t>구현</a:t>
          </a:r>
        </a:p>
      </dgm:t>
    </dgm:pt>
    <dgm:pt modelId="{BE45024B-F3AC-4B70-903E-CD33CB132568}" type="parTrans" cxnId="{827ADF89-C23B-4A7C-9437-39FAC94EF5A1}">
      <dgm:prSet/>
      <dgm:spPr/>
    </dgm:pt>
    <dgm:pt modelId="{8438916C-B362-4A8A-8CCA-4B8DAB9C3455}" type="sibTrans" cxnId="{827ADF89-C23B-4A7C-9437-39FAC94EF5A1}">
      <dgm:prSet/>
      <dgm:spPr/>
    </dgm:pt>
    <dgm:pt modelId="{51167A2B-A221-4A0A-962D-F207FB756EFC}" type="pres">
      <dgm:prSet presAssocID="{54D2CF9D-D6A6-4339-8608-D1D6A195172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F7AA37-A260-4739-9A00-1F249194F034}" type="pres">
      <dgm:prSet presAssocID="{9AFDF3F9-66BB-427B-A80D-A039FAC74EC6}" presName="hierRoot1" presStyleCnt="0"/>
      <dgm:spPr/>
    </dgm:pt>
    <dgm:pt modelId="{939007FE-50F9-458E-9E07-530805E38298}" type="pres">
      <dgm:prSet presAssocID="{9AFDF3F9-66BB-427B-A80D-A039FAC74EC6}" presName="composite" presStyleCnt="0"/>
      <dgm:spPr/>
    </dgm:pt>
    <dgm:pt modelId="{FEAFD292-6ADD-49B2-A515-6D7C49BE9A1E}" type="pres">
      <dgm:prSet presAssocID="{9AFDF3F9-66BB-427B-A80D-A039FAC74EC6}" presName="background" presStyleLbl="node0" presStyleIdx="0" presStyleCnt="4"/>
      <dgm:spPr/>
    </dgm:pt>
    <dgm:pt modelId="{2D0E4082-5B5D-47B8-B25D-2F55CA28CBE6}" type="pres">
      <dgm:prSet presAssocID="{9AFDF3F9-66BB-427B-A80D-A039FAC74EC6}" presName="text" presStyleLbl="fgAcc0" presStyleIdx="0" presStyleCnt="4">
        <dgm:presLayoutVars>
          <dgm:chPref val="3"/>
        </dgm:presLayoutVars>
      </dgm:prSet>
      <dgm:spPr/>
    </dgm:pt>
    <dgm:pt modelId="{5C7A74AC-B78F-48FB-B6D5-09D640108236}" type="pres">
      <dgm:prSet presAssocID="{9AFDF3F9-66BB-427B-A80D-A039FAC74EC6}" presName="hierChild2" presStyleCnt="0"/>
      <dgm:spPr/>
    </dgm:pt>
    <dgm:pt modelId="{F3B334A3-3205-4BBC-B28E-C2B6C6B376B9}" type="pres">
      <dgm:prSet presAssocID="{7B8E7F6E-DA81-4C2D-95F2-7F6AB2DB3DD8}" presName="hierRoot1" presStyleCnt="0"/>
      <dgm:spPr/>
    </dgm:pt>
    <dgm:pt modelId="{8EDB387B-A64A-4C5F-ACCA-406E6F00AE51}" type="pres">
      <dgm:prSet presAssocID="{7B8E7F6E-DA81-4C2D-95F2-7F6AB2DB3DD8}" presName="composite" presStyleCnt="0"/>
      <dgm:spPr/>
    </dgm:pt>
    <dgm:pt modelId="{A8EDD4D3-C8D8-46EF-9B12-39A032BAD9FE}" type="pres">
      <dgm:prSet presAssocID="{7B8E7F6E-DA81-4C2D-95F2-7F6AB2DB3DD8}" presName="background" presStyleLbl="node0" presStyleIdx="1" presStyleCnt="4"/>
      <dgm:spPr/>
    </dgm:pt>
    <dgm:pt modelId="{A785DC2C-9822-4D71-BD51-BDA036ED5B59}" type="pres">
      <dgm:prSet presAssocID="{7B8E7F6E-DA81-4C2D-95F2-7F6AB2DB3DD8}" presName="text" presStyleLbl="fgAcc0" presStyleIdx="1" presStyleCnt="4">
        <dgm:presLayoutVars>
          <dgm:chPref val="3"/>
        </dgm:presLayoutVars>
      </dgm:prSet>
      <dgm:spPr/>
    </dgm:pt>
    <dgm:pt modelId="{FEDDB5DE-886C-4212-A1DF-9559E4E735DF}" type="pres">
      <dgm:prSet presAssocID="{7B8E7F6E-DA81-4C2D-95F2-7F6AB2DB3DD8}" presName="hierChild2" presStyleCnt="0"/>
      <dgm:spPr/>
    </dgm:pt>
    <dgm:pt modelId="{03D1F2B1-09EF-42DF-AAC9-8262038C7F48}" type="pres">
      <dgm:prSet presAssocID="{61906CB8-30FA-4727-BB4A-E7281E73A9F5}" presName="hierRoot1" presStyleCnt="0"/>
      <dgm:spPr/>
    </dgm:pt>
    <dgm:pt modelId="{D3389637-175B-4372-8333-75C6185EBCD0}" type="pres">
      <dgm:prSet presAssocID="{61906CB8-30FA-4727-BB4A-E7281E73A9F5}" presName="composite" presStyleCnt="0"/>
      <dgm:spPr/>
    </dgm:pt>
    <dgm:pt modelId="{EEE7BA23-925B-483B-8076-B3BC8A0E5A9D}" type="pres">
      <dgm:prSet presAssocID="{61906CB8-30FA-4727-BB4A-E7281E73A9F5}" presName="background" presStyleLbl="node0" presStyleIdx="2" presStyleCnt="4"/>
      <dgm:spPr/>
    </dgm:pt>
    <dgm:pt modelId="{B34E5519-C94C-49DE-B3AA-8E908B037F2F}" type="pres">
      <dgm:prSet presAssocID="{61906CB8-30FA-4727-BB4A-E7281E73A9F5}" presName="text" presStyleLbl="fgAcc0" presStyleIdx="2" presStyleCnt="4">
        <dgm:presLayoutVars>
          <dgm:chPref val="3"/>
        </dgm:presLayoutVars>
      </dgm:prSet>
      <dgm:spPr/>
    </dgm:pt>
    <dgm:pt modelId="{D5AEDBC2-BFEE-46B2-BDB9-4C702EA86155}" type="pres">
      <dgm:prSet presAssocID="{61906CB8-30FA-4727-BB4A-E7281E73A9F5}" presName="hierChild2" presStyleCnt="0"/>
      <dgm:spPr/>
    </dgm:pt>
    <dgm:pt modelId="{6316CB25-162C-413A-8E97-47C698CFC061}" type="pres">
      <dgm:prSet presAssocID="{E0D244DE-5EC2-4FD0-8232-F451D3C88F85}" presName="hierRoot1" presStyleCnt="0"/>
      <dgm:spPr/>
    </dgm:pt>
    <dgm:pt modelId="{3AC8EBE6-74A9-455A-A823-C367976C7215}" type="pres">
      <dgm:prSet presAssocID="{E0D244DE-5EC2-4FD0-8232-F451D3C88F85}" presName="composite" presStyleCnt="0"/>
      <dgm:spPr/>
    </dgm:pt>
    <dgm:pt modelId="{D1174985-5B9E-4D3E-B169-BFFE47BC2C25}" type="pres">
      <dgm:prSet presAssocID="{E0D244DE-5EC2-4FD0-8232-F451D3C88F85}" presName="background" presStyleLbl="node0" presStyleIdx="3" presStyleCnt="4"/>
      <dgm:spPr/>
    </dgm:pt>
    <dgm:pt modelId="{DE3D5E35-1EBB-4F56-BC30-022DF707B247}" type="pres">
      <dgm:prSet presAssocID="{E0D244DE-5EC2-4FD0-8232-F451D3C88F85}" presName="text" presStyleLbl="fgAcc0" presStyleIdx="3" presStyleCnt="4">
        <dgm:presLayoutVars>
          <dgm:chPref val="3"/>
        </dgm:presLayoutVars>
      </dgm:prSet>
      <dgm:spPr/>
    </dgm:pt>
    <dgm:pt modelId="{03EC48DE-7D59-49D3-B746-E0A764E8A971}" type="pres">
      <dgm:prSet presAssocID="{E0D244DE-5EC2-4FD0-8232-F451D3C88F85}" presName="hierChild2" presStyleCnt="0"/>
      <dgm:spPr/>
    </dgm:pt>
  </dgm:ptLst>
  <dgm:cxnLst>
    <dgm:cxn modelId="{BB2E3924-2001-4FA8-B5B1-654EC801BD04}" type="presOf" srcId="{9AFDF3F9-66BB-427B-A80D-A039FAC74EC6}" destId="{2D0E4082-5B5D-47B8-B25D-2F55CA28CBE6}" srcOrd="0" destOrd="0" presId="urn:microsoft.com/office/officeart/2005/8/layout/hierarchy1"/>
    <dgm:cxn modelId="{27501056-321B-48B4-8D40-6102DD96FD1D}" type="presOf" srcId="{61906CB8-30FA-4727-BB4A-E7281E73A9F5}" destId="{B34E5519-C94C-49DE-B3AA-8E908B037F2F}" srcOrd="0" destOrd="0" presId="urn:microsoft.com/office/officeart/2005/8/layout/hierarchy1"/>
    <dgm:cxn modelId="{AD9E157F-84A6-427E-B0DB-0D3BD15DF586}" type="presOf" srcId="{E0D244DE-5EC2-4FD0-8232-F451D3C88F85}" destId="{DE3D5E35-1EBB-4F56-BC30-022DF707B247}" srcOrd="0" destOrd="0" presId="urn:microsoft.com/office/officeart/2005/8/layout/hierarchy1"/>
    <dgm:cxn modelId="{827ADF89-C23B-4A7C-9437-39FAC94EF5A1}" srcId="{54D2CF9D-D6A6-4339-8608-D1D6A1951722}" destId="{E0D244DE-5EC2-4FD0-8232-F451D3C88F85}" srcOrd="3" destOrd="0" parTransId="{BE45024B-F3AC-4B70-903E-CD33CB132568}" sibTransId="{8438916C-B362-4A8A-8CCA-4B8DAB9C3455}"/>
    <dgm:cxn modelId="{2C3D609D-45E7-4443-88D7-09B91B4D45B3}" type="presOf" srcId="{7B8E7F6E-DA81-4C2D-95F2-7F6AB2DB3DD8}" destId="{A785DC2C-9822-4D71-BD51-BDA036ED5B59}" srcOrd="0" destOrd="0" presId="urn:microsoft.com/office/officeart/2005/8/layout/hierarchy1"/>
    <dgm:cxn modelId="{104EA8D2-B8E4-40E4-B47E-F48A2272098B}" srcId="{54D2CF9D-D6A6-4339-8608-D1D6A1951722}" destId="{9AFDF3F9-66BB-427B-A80D-A039FAC74EC6}" srcOrd="0" destOrd="0" parTransId="{324DB866-F840-4DC1-AEBC-20A1594C133F}" sibTransId="{37E575D7-EFBA-4841-B201-98E247B7C751}"/>
    <dgm:cxn modelId="{6E4244EA-ECEF-4AD1-94DC-22A5ADBD8FC5}" srcId="{54D2CF9D-D6A6-4339-8608-D1D6A1951722}" destId="{61906CB8-30FA-4727-BB4A-E7281E73A9F5}" srcOrd="2" destOrd="0" parTransId="{335E35D1-6E17-4009-BAA6-63D54F205381}" sibTransId="{DC410BBB-FFAF-48B4-958C-E8A2C5A05BE2}"/>
    <dgm:cxn modelId="{F5CB94EC-BBA3-4231-ACBB-DE099A0521B8}" type="presOf" srcId="{54D2CF9D-D6A6-4339-8608-D1D6A1951722}" destId="{51167A2B-A221-4A0A-962D-F207FB756EFC}" srcOrd="0" destOrd="0" presId="urn:microsoft.com/office/officeart/2005/8/layout/hierarchy1"/>
    <dgm:cxn modelId="{90B3D3EF-4963-4ACC-84F8-8167489BD19C}" srcId="{54D2CF9D-D6A6-4339-8608-D1D6A1951722}" destId="{7B8E7F6E-DA81-4C2D-95F2-7F6AB2DB3DD8}" srcOrd="1" destOrd="0" parTransId="{38134888-CF20-4B10-8B3C-ED1BC951189D}" sibTransId="{C8CF4DE1-C4E9-47CD-8365-ACBC17B09B9F}"/>
    <dgm:cxn modelId="{E3482E0B-F46A-4253-B5F7-A1C14AF8CB6D}" type="presParOf" srcId="{51167A2B-A221-4A0A-962D-F207FB756EFC}" destId="{16F7AA37-A260-4739-9A00-1F249194F034}" srcOrd="0" destOrd="0" presId="urn:microsoft.com/office/officeart/2005/8/layout/hierarchy1"/>
    <dgm:cxn modelId="{FE8EA069-3086-4CCF-90B8-BCBF67371BC0}" type="presParOf" srcId="{16F7AA37-A260-4739-9A00-1F249194F034}" destId="{939007FE-50F9-458E-9E07-530805E38298}" srcOrd="0" destOrd="0" presId="urn:microsoft.com/office/officeart/2005/8/layout/hierarchy1"/>
    <dgm:cxn modelId="{76ED4159-93FB-4621-A229-7A5977F3AEF2}" type="presParOf" srcId="{939007FE-50F9-458E-9E07-530805E38298}" destId="{FEAFD292-6ADD-49B2-A515-6D7C49BE9A1E}" srcOrd="0" destOrd="0" presId="urn:microsoft.com/office/officeart/2005/8/layout/hierarchy1"/>
    <dgm:cxn modelId="{A8BCA1BB-2B54-48E4-B34F-11440F930E34}" type="presParOf" srcId="{939007FE-50F9-458E-9E07-530805E38298}" destId="{2D0E4082-5B5D-47B8-B25D-2F55CA28CBE6}" srcOrd="1" destOrd="0" presId="urn:microsoft.com/office/officeart/2005/8/layout/hierarchy1"/>
    <dgm:cxn modelId="{191B935C-808E-4EA9-B4A6-526BEACF0122}" type="presParOf" srcId="{16F7AA37-A260-4739-9A00-1F249194F034}" destId="{5C7A74AC-B78F-48FB-B6D5-09D640108236}" srcOrd="1" destOrd="0" presId="urn:microsoft.com/office/officeart/2005/8/layout/hierarchy1"/>
    <dgm:cxn modelId="{D2FF18B8-143A-4EB6-AAFA-C56DBC90D242}" type="presParOf" srcId="{51167A2B-A221-4A0A-962D-F207FB756EFC}" destId="{F3B334A3-3205-4BBC-B28E-C2B6C6B376B9}" srcOrd="1" destOrd="0" presId="urn:microsoft.com/office/officeart/2005/8/layout/hierarchy1"/>
    <dgm:cxn modelId="{3784716B-EF96-4EDE-B6E2-4316C6EF9020}" type="presParOf" srcId="{F3B334A3-3205-4BBC-B28E-C2B6C6B376B9}" destId="{8EDB387B-A64A-4C5F-ACCA-406E6F00AE51}" srcOrd="0" destOrd="0" presId="urn:microsoft.com/office/officeart/2005/8/layout/hierarchy1"/>
    <dgm:cxn modelId="{A7B61EC4-2E8C-4DF2-BF03-465BAB5C3E7B}" type="presParOf" srcId="{8EDB387B-A64A-4C5F-ACCA-406E6F00AE51}" destId="{A8EDD4D3-C8D8-46EF-9B12-39A032BAD9FE}" srcOrd="0" destOrd="0" presId="urn:microsoft.com/office/officeart/2005/8/layout/hierarchy1"/>
    <dgm:cxn modelId="{66D50ED8-BE06-4E17-9BF6-F75ED131814A}" type="presParOf" srcId="{8EDB387B-A64A-4C5F-ACCA-406E6F00AE51}" destId="{A785DC2C-9822-4D71-BD51-BDA036ED5B59}" srcOrd="1" destOrd="0" presId="urn:microsoft.com/office/officeart/2005/8/layout/hierarchy1"/>
    <dgm:cxn modelId="{ABBA54F4-9320-44DA-BF83-42DF92488AFF}" type="presParOf" srcId="{F3B334A3-3205-4BBC-B28E-C2B6C6B376B9}" destId="{FEDDB5DE-886C-4212-A1DF-9559E4E735DF}" srcOrd="1" destOrd="0" presId="urn:microsoft.com/office/officeart/2005/8/layout/hierarchy1"/>
    <dgm:cxn modelId="{284CFC71-5849-4F4E-A651-AA65709977AD}" type="presParOf" srcId="{51167A2B-A221-4A0A-962D-F207FB756EFC}" destId="{03D1F2B1-09EF-42DF-AAC9-8262038C7F48}" srcOrd="2" destOrd="0" presId="urn:microsoft.com/office/officeart/2005/8/layout/hierarchy1"/>
    <dgm:cxn modelId="{3F843B1B-3C44-41C9-87FC-C1A9CB29E77C}" type="presParOf" srcId="{03D1F2B1-09EF-42DF-AAC9-8262038C7F48}" destId="{D3389637-175B-4372-8333-75C6185EBCD0}" srcOrd="0" destOrd="0" presId="urn:microsoft.com/office/officeart/2005/8/layout/hierarchy1"/>
    <dgm:cxn modelId="{F04CFA4F-5F77-4229-A34A-EA04A09E7BA9}" type="presParOf" srcId="{D3389637-175B-4372-8333-75C6185EBCD0}" destId="{EEE7BA23-925B-483B-8076-B3BC8A0E5A9D}" srcOrd="0" destOrd="0" presId="urn:microsoft.com/office/officeart/2005/8/layout/hierarchy1"/>
    <dgm:cxn modelId="{1CA8C60D-49EA-4C3E-A4D5-A9A67650436E}" type="presParOf" srcId="{D3389637-175B-4372-8333-75C6185EBCD0}" destId="{B34E5519-C94C-49DE-B3AA-8E908B037F2F}" srcOrd="1" destOrd="0" presId="urn:microsoft.com/office/officeart/2005/8/layout/hierarchy1"/>
    <dgm:cxn modelId="{107EDCF5-9F23-4CB8-8630-557ED1BF751C}" type="presParOf" srcId="{03D1F2B1-09EF-42DF-AAC9-8262038C7F48}" destId="{D5AEDBC2-BFEE-46B2-BDB9-4C702EA86155}" srcOrd="1" destOrd="0" presId="urn:microsoft.com/office/officeart/2005/8/layout/hierarchy1"/>
    <dgm:cxn modelId="{602CAC05-FA81-482F-88C2-91FD05F1965F}" type="presParOf" srcId="{51167A2B-A221-4A0A-962D-F207FB756EFC}" destId="{6316CB25-162C-413A-8E97-47C698CFC061}" srcOrd="3" destOrd="0" presId="urn:microsoft.com/office/officeart/2005/8/layout/hierarchy1"/>
    <dgm:cxn modelId="{D777386C-C7F5-4E66-80DC-EC4C5FE7CC07}" type="presParOf" srcId="{6316CB25-162C-413A-8E97-47C698CFC061}" destId="{3AC8EBE6-74A9-455A-A823-C367976C7215}" srcOrd="0" destOrd="0" presId="urn:microsoft.com/office/officeart/2005/8/layout/hierarchy1"/>
    <dgm:cxn modelId="{AE483503-984F-48A0-85A6-53D06F63E18F}" type="presParOf" srcId="{3AC8EBE6-74A9-455A-A823-C367976C7215}" destId="{D1174985-5B9E-4D3E-B169-BFFE47BC2C25}" srcOrd="0" destOrd="0" presId="urn:microsoft.com/office/officeart/2005/8/layout/hierarchy1"/>
    <dgm:cxn modelId="{EB4BFC82-7CDD-4791-8477-A86E986CDE16}" type="presParOf" srcId="{3AC8EBE6-74A9-455A-A823-C367976C7215}" destId="{DE3D5E35-1EBB-4F56-BC30-022DF707B247}" srcOrd="1" destOrd="0" presId="urn:microsoft.com/office/officeart/2005/8/layout/hierarchy1"/>
    <dgm:cxn modelId="{7A39B3A0-D863-4A9A-BE48-034B04D8CD20}" type="presParOf" srcId="{6316CB25-162C-413A-8E97-47C698CFC061}" destId="{03EC48DE-7D59-49D3-B746-E0A764E8A9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FD292-6ADD-49B2-A515-6D7C49BE9A1E}">
      <dsp:nvSpPr>
        <dsp:cNvPr id="0" name=""/>
        <dsp:cNvSpPr/>
      </dsp:nvSpPr>
      <dsp:spPr>
        <a:xfrm>
          <a:off x="3027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E4082-5B5D-47B8-B25D-2F55CA28CBE6}">
      <dsp:nvSpPr>
        <dsp:cNvPr id="0" name=""/>
        <dsp:cNvSpPr/>
      </dsp:nvSpPr>
      <dsp:spPr>
        <a:xfrm>
          <a:off x="243244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>
              <a:ea typeface="+mn-ea"/>
              <a:cs typeface="+mn-cs"/>
            </a:rPr>
            <a:t>프로젝트 개요</a:t>
          </a:r>
          <a:endParaRPr lang="en-US" sz="2200" kern="1200" dirty="0">
            <a:ea typeface="+mn-ea"/>
            <a:cs typeface="+mn-cs"/>
          </a:endParaRPr>
        </a:p>
      </dsp:txBody>
      <dsp:txXfrm>
        <a:off x="283453" y="1501109"/>
        <a:ext cx="2081527" cy="1292417"/>
      </dsp:txXfrm>
    </dsp:sp>
    <dsp:sp modelId="{A8EDD4D3-C8D8-46EF-9B12-39A032BAD9FE}">
      <dsp:nvSpPr>
        <dsp:cNvPr id="0" name=""/>
        <dsp:cNvSpPr/>
      </dsp:nvSpPr>
      <dsp:spPr>
        <a:xfrm>
          <a:off x="2645405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5DC2C-9822-4D71-BD51-BDA036ED5B59}">
      <dsp:nvSpPr>
        <dsp:cNvPr id="0" name=""/>
        <dsp:cNvSpPr/>
      </dsp:nvSpPr>
      <dsp:spPr>
        <a:xfrm>
          <a:off x="2885621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>
              <a:ea typeface="+mn-ea"/>
              <a:cs typeface="+mn-cs"/>
            </a:rPr>
            <a:t>핵심 기능 </a:t>
          </a:r>
          <a:endParaRPr lang="en-US" sz="2200" kern="1200" dirty="0">
            <a:ea typeface="+mn-ea"/>
            <a:cs typeface="+mn-cs"/>
          </a:endParaRPr>
        </a:p>
      </dsp:txBody>
      <dsp:txXfrm>
        <a:off x="2925830" y="1501109"/>
        <a:ext cx="2081527" cy="1292417"/>
      </dsp:txXfrm>
    </dsp:sp>
    <dsp:sp modelId="{EEE7BA23-925B-483B-8076-B3BC8A0E5A9D}">
      <dsp:nvSpPr>
        <dsp:cNvPr id="0" name=""/>
        <dsp:cNvSpPr/>
      </dsp:nvSpPr>
      <dsp:spPr>
        <a:xfrm>
          <a:off x="5287783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E5519-C94C-49DE-B3AA-8E908B037F2F}">
      <dsp:nvSpPr>
        <dsp:cNvPr id="0" name=""/>
        <dsp:cNvSpPr/>
      </dsp:nvSpPr>
      <dsp:spPr>
        <a:xfrm>
          <a:off x="5527999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200" kern="1200" dirty="0">
              <a:latin typeface="Neue Haas Grotesk Text Pro"/>
              <a:ea typeface="+mn-ea"/>
              <a:cs typeface="+mn-cs"/>
            </a:rPr>
            <a:t>설계 </a:t>
          </a:r>
          <a:endParaRPr lang="en-US" sz="2200" kern="1200" dirty="0">
            <a:ea typeface="+mn-ea"/>
            <a:cs typeface="+mn-cs"/>
          </a:endParaRPr>
        </a:p>
      </dsp:txBody>
      <dsp:txXfrm>
        <a:off x="5568208" y="1501109"/>
        <a:ext cx="2081527" cy="1292417"/>
      </dsp:txXfrm>
    </dsp:sp>
    <dsp:sp modelId="{D1174985-5B9E-4D3E-B169-BFFE47BC2C25}">
      <dsp:nvSpPr>
        <dsp:cNvPr id="0" name=""/>
        <dsp:cNvSpPr/>
      </dsp:nvSpPr>
      <dsp:spPr>
        <a:xfrm>
          <a:off x="7930160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D5E35-1EBB-4F56-BC30-022DF707B247}">
      <dsp:nvSpPr>
        <dsp:cNvPr id="0" name=""/>
        <dsp:cNvSpPr/>
      </dsp:nvSpPr>
      <dsp:spPr>
        <a:xfrm>
          <a:off x="8170376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200" kern="1200" dirty="0">
              <a:latin typeface="Neue Haas Grotesk Text Pro"/>
              <a:ea typeface="+mn-ea"/>
              <a:cs typeface="+mn-cs"/>
            </a:rPr>
            <a:t>구현</a:t>
          </a:r>
        </a:p>
      </dsp:txBody>
      <dsp:txXfrm>
        <a:off x="8210585" y="1501109"/>
        <a:ext cx="2081527" cy="1292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45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4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7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3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0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6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8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5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3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35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0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1">
            <a:extLst>
              <a:ext uri="{FF2B5EF4-FFF2-40B4-BE49-F238E27FC236}">
                <a16:creationId xmlns:a16="http://schemas.microsoft.com/office/drawing/2014/main" id="{0F447467-474F-7A46-9B55-A89C6B0DA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반다이남코코리아(BANDAI) 다마고치 파라다이스 블루 워터 - 후기 | 무신사">
            <a:extLst>
              <a:ext uri="{FF2B5EF4-FFF2-40B4-BE49-F238E27FC236}">
                <a16:creationId xmlns:a16="http://schemas.microsoft.com/office/drawing/2014/main" id="{DA251B16-17FD-56E0-3E5C-C60B01827C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6356" b="3273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7" name="Rectangle 23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198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920980" y="1893965"/>
            <a:ext cx="4738347" cy="1986802"/>
          </a:xfrm>
        </p:spPr>
        <p:txBody>
          <a:bodyPr>
            <a:normAutofit/>
          </a:bodyPr>
          <a:lstStyle/>
          <a:p>
            <a:pPr algn="r"/>
            <a:r>
              <a:rPr lang="ko-KR" altLang="en-US">
                <a:solidFill>
                  <a:srgbClr val="FFFFFF"/>
                </a:solidFill>
              </a:rPr>
              <a:t>SCSA Gotchi</a:t>
            </a:r>
            <a:br>
              <a:rPr lang="ko-KR" altLang="en-US">
                <a:solidFill>
                  <a:srgbClr val="FFFFFF"/>
                </a:solidFill>
              </a:rPr>
            </a:br>
            <a:r>
              <a:rPr lang="ko-KR" altLang="en-US">
                <a:solidFill>
                  <a:srgbClr val="FFFFFF"/>
                </a:solidFill>
              </a:rPr>
              <a:t>강아지 고양이 키우기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901102" y="3973128"/>
            <a:ext cx="4738347" cy="1189425"/>
          </a:xfrm>
        </p:spPr>
        <p:txBody>
          <a:bodyPr>
            <a:normAutofit/>
          </a:bodyPr>
          <a:lstStyle/>
          <a:p>
            <a:pPr algn="r"/>
            <a:br>
              <a:rPr lang="ko-KR" altLang="en-US">
                <a:solidFill>
                  <a:srgbClr val="FFFFFF"/>
                </a:solidFill>
              </a:rPr>
            </a:br>
            <a:r>
              <a:rPr lang="ko-KR" altLang="en-US">
                <a:solidFill>
                  <a:srgbClr val="FFFFFF"/>
                </a:solidFill>
              </a:rPr>
              <a:t>SCSA 25기 C/C++ Project</a:t>
            </a:r>
            <a:endParaRPr lang="ko-KR">
              <a:solidFill>
                <a:srgbClr val="FFFFFF"/>
              </a:solidFill>
            </a:endParaRPr>
          </a:p>
          <a:p>
            <a:pPr algn="r"/>
            <a:r>
              <a:rPr lang="ko-KR" altLang="en-US">
                <a:solidFill>
                  <a:srgbClr val="FFFFFF"/>
                </a:solidFill>
              </a:rPr>
              <a:t>나 원빈, 김 토빈, 신 희민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6B4476-4D10-DCB8-DFF5-F6B9E44E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ko-KR" altLang="en-US"/>
              <a:t>목차</a:t>
            </a: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BDE57D13-BD16-B476-087F-AA1F953E5B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945521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6835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59576-0E58-D4CE-9DD6-975D3532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반다이남코코리아(BANDAI) 다마고치 파라다이스 블루 워터 - 후기 | 무신사">
            <a:extLst>
              <a:ext uri="{FF2B5EF4-FFF2-40B4-BE49-F238E27FC236}">
                <a16:creationId xmlns:a16="http://schemas.microsoft.com/office/drawing/2014/main" id="{6CE0BAF8-F8C3-E0B2-315A-177039906E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t="24285" b="30715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28D0B8-EBB8-A107-0A66-E30A8E53D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ko-KR" altLang="en-US" sz="5400">
                <a:solidFill>
                  <a:srgbClr val="FFFFFF"/>
                </a:solidFill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2304711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00730-A5B5-3AC1-8266-92C01B7D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서비스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82F5D-2528-D2F0-45EB-1675C194E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1473087" cy="459382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ko-KR" b="1"/>
              <a:t>서비스 명</a:t>
            </a:r>
            <a:endParaRPr lang="ko-KR"/>
          </a:p>
          <a:p>
            <a:pPr marL="0" indent="0">
              <a:buNone/>
            </a:pPr>
            <a:r>
              <a:rPr lang="ko-KR" err="1"/>
              <a:t>슥사고치</a:t>
            </a:r>
            <a:r>
              <a:rPr lang="ko-KR"/>
              <a:t>(</a:t>
            </a:r>
            <a:r>
              <a:rPr lang="ko-KR" err="1"/>
              <a:t>SCSAgotchi</a:t>
            </a:r>
            <a:r>
              <a:rPr lang="ko-KR"/>
              <a:t>)</a:t>
            </a:r>
            <a:br>
              <a:rPr lang="ko-KR"/>
            </a:br>
            <a:endParaRPr lang="ko-KR"/>
          </a:p>
          <a:p>
            <a:pPr marL="0" indent="0">
              <a:buNone/>
            </a:pPr>
            <a:r>
              <a:rPr lang="ko-KR" b="1"/>
              <a:t>서비스 컨셉</a:t>
            </a:r>
            <a:r>
              <a:rPr lang="ko-KR" altLang="en-US" b="1"/>
              <a:t> </a:t>
            </a:r>
            <a:endParaRPr lang="en-US" altLang="ko-KR" b="1"/>
          </a:p>
          <a:p>
            <a:pPr marL="0" indent="0">
              <a:buNone/>
            </a:pPr>
            <a:r>
              <a:rPr lang="ko-KR"/>
              <a:t>과거 휴대용 육성 게임 ‘</a:t>
            </a:r>
            <a:r>
              <a:rPr lang="ko-KR" err="1"/>
              <a:t>다마고치’에서</a:t>
            </a:r>
            <a:r>
              <a:rPr lang="ko-KR"/>
              <a:t> 착안하여 디지털 펫 케어 게임을 </a:t>
            </a:r>
            <a:r>
              <a:rPr lang="ko-KR" err="1"/>
              <a:t>PC의</a:t>
            </a:r>
            <a:r>
              <a:rPr lang="ko-KR"/>
              <a:t> 텍스트 터미널 환경에서 재현</a:t>
            </a:r>
          </a:p>
          <a:p>
            <a:pPr marL="0" indent="0">
              <a:buNone/>
            </a:pPr>
            <a:endParaRPr lang="ko-KR" altLang="en-US"/>
          </a:p>
          <a:p>
            <a:pPr marL="0" indent="0">
              <a:buNone/>
            </a:pPr>
            <a:r>
              <a:rPr lang="ko-KR" b="1"/>
              <a:t>핵심 가치</a:t>
            </a:r>
          </a:p>
          <a:p>
            <a:pPr marL="342900" indent="-342900"/>
            <a:r>
              <a:rPr lang="ko-KR"/>
              <a:t>아스키 아트(ASCII </a:t>
            </a:r>
            <a:r>
              <a:rPr lang="ko-KR" err="1"/>
              <a:t>art</a:t>
            </a:r>
            <a:r>
              <a:rPr lang="ko-KR"/>
              <a:t>)</a:t>
            </a:r>
            <a:r>
              <a:rPr lang="ko-KR" altLang="en-US"/>
              <a:t> </a:t>
            </a:r>
            <a:r>
              <a:rPr lang="ko-KR"/>
              <a:t>이용하여 </a:t>
            </a:r>
            <a:r>
              <a:rPr lang="ko-KR" err="1"/>
              <a:t>다마고치의</a:t>
            </a:r>
            <a:r>
              <a:rPr lang="ko-KR"/>
              <a:t> 클래식한 감성을 살리고, 터미널 환경에서도 시각적 </a:t>
            </a:r>
            <a:r>
              <a:rPr lang="ko-KR" altLang="en-US"/>
              <a:t>재미</a:t>
            </a:r>
            <a:r>
              <a:rPr lang="ko-KR"/>
              <a:t> </a:t>
            </a:r>
            <a:r>
              <a:rPr lang="ko-KR" altLang="en-US"/>
              <a:t>제공</a:t>
            </a:r>
            <a:endParaRPr lang="ko-KR"/>
          </a:p>
          <a:p>
            <a:pPr marL="342900" indent="-342900"/>
            <a:r>
              <a:rPr lang="ko-KR" err="1"/>
              <a:t>레벨업</a:t>
            </a:r>
            <a:r>
              <a:rPr lang="ko-KR"/>
              <a:t> 기능 및 </a:t>
            </a:r>
            <a:r>
              <a:rPr lang="ko-KR" err="1"/>
              <a:t>미접속</a:t>
            </a:r>
            <a:r>
              <a:rPr lang="ko-KR"/>
              <a:t> 기간과 연동한 상태 업데이트로 책임감 기반의 육성 시스템을 </a:t>
            </a:r>
            <a:r>
              <a:rPr lang="ko-KR" altLang="en-US"/>
              <a:t>구현</a:t>
            </a:r>
            <a:endParaRPr lang="ko-KR"/>
          </a:p>
          <a:p>
            <a:pPr marL="0" indent="0"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049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C96A-9EBB-9D86-1771-3873A4FC1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3B3D9-D47F-0FC9-EE07-0BC74ED6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유저 플로우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8DA1F4-632B-681C-D03A-89861F81E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468" y="2397055"/>
            <a:ext cx="3216608" cy="5050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/>
              <a:t>데이터 로드 및 목록보기 </a:t>
            </a:r>
            <a:r>
              <a:rPr lang="ko-KR"/>
              <a:t> </a:t>
            </a:r>
          </a:p>
          <a:p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A37165C-6FAC-466E-960E-6C47659609CE}"/>
              </a:ext>
            </a:extLst>
          </p:cNvPr>
          <p:cNvSpPr txBox="1">
            <a:spLocks/>
          </p:cNvSpPr>
          <p:nvPr/>
        </p:nvSpPr>
        <p:spPr>
          <a:xfrm>
            <a:off x="7302829" y="2396647"/>
            <a:ext cx="1464757" cy="442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/>
              <a:t>입양하기</a:t>
            </a:r>
            <a:endParaRPr lang="ko-KR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9F52883-5C2C-F462-4AF1-6E6BD8C99B06}"/>
              </a:ext>
            </a:extLst>
          </p:cNvPr>
          <p:cNvSpPr txBox="1">
            <a:spLocks/>
          </p:cNvSpPr>
          <p:nvPr/>
        </p:nvSpPr>
        <p:spPr>
          <a:xfrm>
            <a:off x="2577683" y="4120994"/>
            <a:ext cx="4141943" cy="4259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/>
              <a:t>돌보기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먹이주기</a:t>
            </a:r>
            <a:r>
              <a:rPr lang="en-US" altLang="ko-KR"/>
              <a:t>/</a:t>
            </a:r>
            <a:r>
              <a:rPr lang="ko-KR" altLang="en-US"/>
              <a:t>재우기</a:t>
            </a:r>
            <a:r>
              <a:rPr lang="en-US" altLang="ko-KR"/>
              <a:t>/</a:t>
            </a:r>
            <a:r>
              <a:rPr lang="ko-KR" altLang="en-US"/>
              <a:t>놀아주기</a:t>
            </a:r>
            <a:r>
              <a:rPr lang="en-US" altLang="ko-KR"/>
              <a:t>)</a:t>
            </a:r>
            <a:endParaRPr lang="ko-KR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E1F878E0-0A76-F306-9959-5769445321A4}"/>
              </a:ext>
            </a:extLst>
          </p:cNvPr>
          <p:cNvSpPr txBox="1">
            <a:spLocks/>
          </p:cNvSpPr>
          <p:nvPr/>
        </p:nvSpPr>
        <p:spPr>
          <a:xfrm>
            <a:off x="8278421" y="4125409"/>
            <a:ext cx="1994489" cy="5760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/>
              <a:t>저장</a:t>
            </a:r>
            <a:r>
              <a:rPr lang="ko-KR"/>
              <a:t> </a:t>
            </a:r>
            <a:r>
              <a:rPr lang="ko-KR" altLang="en-US"/>
              <a:t>후</a:t>
            </a:r>
            <a:r>
              <a:rPr lang="ko-KR"/>
              <a:t> </a:t>
            </a:r>
            <a:r>
              <a:rPr lang="ko-KR" altLang="en-US"/>
              <a:t>종료</a:t>
            </a:r>
            <a:endParaRPr lang="ko-KR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AC3559AC-CB1F-62D7-FE47-E99276829E72}"/>
              </a:ext>
            </a:extLst>
          </p:cNvPr>
          <p:cNvSpPr/>
          <p:nvPr/>
        </p:nvSpPr>
        <p:spPr>
          <a:xfrm>
            <a:off x="5335555" y="2342090"/>
            <a:ext cx="765067" cy="490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EB3F472-4C57-6A23-C607-F7F195FEBC4A}"/>
              </a:ext>
            </a:extLst>
          </p:cNvPr>
          <p:cNvSpPr/>
          <p:nvPr/>
        </p:nvSpPr>
        <p:spPr>
          <a:xfrm>
            <a:off x="1469525" y="4056589"/>
            <a:ext cx="765067" cy="490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EEA7600-CFA2-600C-924C-8FD936849223}"/>
              </a:ext>
            </a:extLst>
          </p:cNvPr>
          <p:cNvSpPr/>
          <p:nvPr/>
        </p:nvSpPr>
        <p:spPr>
          <a:xfrm>
            <a:off x="7050055" y="4056590"/>
            <a:ext cx="765067" cy="490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91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F425D-C8D3-2C77-D7AB-D281D6F3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8C47B2F-841D-8539-0D71-D06325C25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반다이남코코리아(BANDAI) 다마고치 파라다이스 블루 워터 - 후기 | 무신사">
            <a:extLst>
              <a:ext uri="{FF2B5EF4-FFF2-40B4-BE49-F238E27FC236}">
                <a16:creationId xmlns:a16="http://schemas.microsoft.com/office/drawing/2014/main" id="{C7E67597-76D0-36E6-6BB0-736A8B1D38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t="24285" b="30715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1F59AB0-6E72-77FE-01CF-A2E7E3456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ko-KR" altLang="en-US" sz="5400"/>
              <a:t>2. 핵심 기능 </a:t>
            </a:r>
          </a:p>
        </p:txBody>
      </p:sp>
    </p:spTree>
    <p:extLst>
      <p:ext uri="{BB962C8B-B14F-4D97-AF65-F5344CB8AC3E}">
        <p14:creationId xmlns:p14="http://schemas.microsoft.com/office/powerpoint/2010/main" val="3894509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FBA45-1351-6124-11F6-2D5BAA98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ko-KR" altLang="en-US"/>
              <a:t>데이터 로드 및 목록보기</a:t>
            </a:r>
          </a:p>
        </p:txBody>
      </p:sp>
      <p:pic>
        <p:nvPicPr>
          <p:cNvPr id="6" name="내용 개체 틀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77197F-CDBA-7DF2-721F-1AB46FD8E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935" t="-1434" r="8879" b="1434"/>
          <a:stretch>
            <a:fillRect/>
          </a:stretch>
        </p:blipFill>
        <p:spPr>
          <a:xfrm>
            <a:off x="6570138" y="1715192"/>
            <a:ext cx="5173356" cy="3667135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73EF08-8D5F-EA1C-DC99-A040ED250E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35" t="-513" r="9649" b="2051"/>
          <a:stretch>
            <a:fillRect/>
          </a:stretch>
        </p:blipFill>
        <p:spPr>
          <a:xfrm>
            <a:off x="143598" y="2178926"/>
            <a:ext cx="5475160" cy="2513427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FC4CB84-66C7-F29E-D7F3-E42633A7B50E}"/>
              </a:ext>
            </a:extLst>
          </p:cNvPr>
          <p:cNvSpPr/>
          <p:nvPr/>
        </p:nvSpPr>
        <p:spPr>
          <a:xfrm>
            <a:off x="5685574" y="3095718"/>
            <a:ext cx="886332" cy="689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9E91D-1FF3-5E87-5462-3C87C65702DB}"/>
              </a:ext>
            </a:extLst>
          </p:cNvPr>
          <p:cNvSpPr txBox="1"/>
          <p:nvPr/>
        </p:nvSpPr>
        <p:spPr>
          <a:xfrm>
            <a:off x="8482891" y="5708609"/>
            <a:ext cx="13451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/>
              <a:t>메인 화면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F7AEBE-5E60-3AFE-9FA3-7BCFBB306E46}"/>
              </a:ext>
            </a:extLst>
          </p:cNvPr>
          <p:cNvSpPr txBox="1"/>
          <p:nvPr/>
        </p:nvSpPr>
        <p:spPr>
          <a:xfrm>
            <a:off x="1979615" y="5708609"/>
            <a:ext cx="13451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/>
              <a:t>세이브 파일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9F34C-CC8A-B61F-9146-1EAA5CA7C076}"/>
              </a:ext>
            </a:extLst>
          </p:cNvPr>
          <p:cNvSpPr txBox="1"/>
          <p:nvPr/>
        </p:nvSpPr>
        <p:spPr>
          <a:xfrm>
            <a:off x="5750202" y="3777333"/>
            <a:ext cx="688237" cy="369332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/>
              <a:t>로드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5544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9EC7-43F2-DCBD-D035-7CC92AFC1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DD122-9480-BA69-67CB-2B7733568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+mj-lt"/>
                <a:cs typeface="+mj-lt"/>
              </a:rPr>
              <a:t>2. 생성하기</a:t>
            </a:r>
            <a:endParaRPr lang="ko-KR" dirty="0"/>
          </a:p>
        </p:txBody>
      </p:sp>
      <p:pic>
        <p:nvPicPr>
          <p:cNvPr id="4" name="내용 개체 틀 3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4E912-1E09-31CF-78BB-4EE426C90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334" y="2207178"/>
            <a:ext cx="4761939" cy="2445124"/>
          </a:xfrm>
          <a:prstGeom prst="rect">
            <a:avLst/>
          </a:prstGeom>
        </p:spPr>
      </p:pic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7C276A-811B-4EFF-D87C-51D68C1A6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074" b="383"/>
          <a:stretch>
            <a:fillRect/>
          </a:stretch>
        </p:blipFill>
        <p:spPr>
          <a:xfrm>
            <a:off x="6091442" y="1978119"/>
            <a:ext cx="5761868" cy="2912973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F5B28CF-8A3F-AB2F-6375-BADCD8E8D14E}"/>
              </a:ext>
            </a:extLst>
          </p:cNvPr>
          <p:cNvSpPr/>
          <p:nvPr/>
        </p:nvSpPr>
        <p:spPr>
          <a:xfrm>
            <a:off x="5146918" y="3082580"/>
            <a:ext cx="886332" cy="689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D083B1-69FF-61CC-19CE-00FB4F701F22}"/>
              </a:ext>
            </a:extLst>
          </p:cNvPr>
          <p:cNvSpPr txBox="1"/>
          <p:nvPr/>
        </p:nvSpPr>
        <p:spPr>
          <a:xfrm>
            <a:off x="1703719" y="5485264"/>
            <a:ext cx="13451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/>
              <a:t>생성화면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27B509-5A0A-4180-B688-4D6194CB08F1}"/>
              </a:ext>
            </a:extLst>
          </p:cNvPr>
          <p:cNvSpPr txBox="1"/>
          <p:nvPr/>
        </p:nvSpPr>
        <p:spPr>
          <a:xfrm>
            <a:off x="8679960" y="5485264"/>
            <a:ext cx="13451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/>
              <a:t>세이브 파일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58627E-D481-6A8F-7083-B4863D58B9D1}"/>
              </a:ext>
            </a:extLst>
          </p:cNvPr>
          <p:cNvSpPr txBox="1"/>
          <p:nvPr/>
        </p:nvSpPr>
        <p:spPr>
          <a:xfrm>
            <a:off x="5132720" y="3921851"/>
            <a:ext cx="898443" cy="369332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/>
              <a:t>세이브</a:t>
            </a:r>
          </a:p>
        </p:txBody>
      </p:sp>
    </p:spTree>
    <p:extLst>
      <p:ext uri="{BB962C8B-B14F-4D97-AF65-F5344CB8AC3E}">
        <p14:creationId xmlns:p14="http://schemas.microsoft.com/office/powerpoint/2010/main" val="216641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B9B2-B134-BA85-D4F0-DCAD7834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DD7C9-ED69-63D4-4C68-D4FEC3A7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ko-KR" dirty="0"/>
              <a:t>돌보기</a:t>
            </a:r>
            <a:endParaRPr lang="ko-KR" b="0" dirty="0"/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E6310A-0106-3DE2-6B76-99C2C14B9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강아지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186B8E-3B32-8CCA-C38F-6F31887AC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/>
              <a:t>고양이</a:t>
            </a:r>
          </a:p>
        </p:txBody>
      </p:sp>
      <p:pic>
        <p:nvPicPr>
          <p:cNvPr id="4" name="그림 3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E37D89-755D-E980-BAE8-A1FCAAD7D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992" y="2480278"/>
            <a:ext cx="5438775" cy="3552825"/>
          </a:xfrm>
          <a:prstGeom prst="rect">
            <a:avLst/>
          </a:prstGeom>
        </p:spPr>
      </p:pic>
      <p:pic>
        <p:nvPicPr>
          <p:cNvPr id="21" name="내용 개체 틀 20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57596E-9003-AFAA-1E87-E8435551955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-254" t="357" r="508" b="3183"/>
          <a:stretch>
            <a:fillRect/>
          </a:stretch>
        </p:blipFill>
        <p:spPr>
          <a:xfrm>
            <a:off x="457199" y="2479772"/>
            <a:ext cx="5170040" cy="355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6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9C743-020F-79F6-151B-9BA6134C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ko-KR" dirty="0"/>
              <a:t>돌보기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먹이주기</a:t>
            </a:r>
            <a:endParaRPr lang="ko-KR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E265E4-139A-55E4-BDA9-F1494983E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강아지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0E07C1-0577-0CC3-BDCF-5AC85AF69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/>
              <a:t>고양이</a:t>
            </a:r>
          </a:p>
        </p:txBody>
      </p:sp>
      <p:pic>
        <p:nvPicPr>
          <p:cNvPr id="12" name="그림 11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3EBAE6-7DA8-2A8F-AE4F-EC1F958E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865" t="-60" r="6636" b="-621"/>
          <a:stretch>
            <a:fillRect/>
          </a:stretch>
        </p:blipFill>
        <p:spPr>
          <a:xfrm>
            <a:off x="184588" y="4248971"/>
            <a:ext cx="5608613" cy="1881039"/>
          </a:xfrm>
          <a:prstGeom prst="rect">
            <a:avLst/>
          </a:prstGeom>
        </p:spPr>
      </p:pic>
      <p:pic>
        <p:nvPicPr>
          <p:cNvPr id="17" name="내용 개체 틀 16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9A1D43-3B0D-F4E4-13F7-CE0028D9787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4854" y="2367530"/>
            <a:ext cx="5183189" cy="1649197"/>
          </a:xfrm>
          <a:prstGeom prst="rect">
            <a:avLst/>
          </a:prstGeom>
        </p:spPr>
      </p:pic>
      <p:pic>
        <p:nvPicPr>
          <p:cNvPr id="19" name="그림 1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38178D-2904-E5CD-A051-8EA8584785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8" t="7653" r="2632" b="11848"/>
          <a:stretch>
            <a:fillRect/>
          </a:stretch>
        </p:blipFill>
        <p:spPr>
          <a:xfrm>
            <a:off x="6307299" y="2365599"/>
            <a:ext cx="5396565" cy="1648520"/>
          </a:xfrm>
          <a:prstGeom prst="rect">
            <a:avLst/>
          </a:prstGeom>
        </p:spPr>
      </p:pic>
      <p:pic>
        <p:nvPicPr>
          <p:cNvPr id="20" name="그림 19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C76AB2-395B-E497-E85D-A705132395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671" b="6710"/>
          <a:stretch>
            <a:fillRect/>
          </a:stretch>
        </p:blipFill>
        <p:spPr>
          <a:xfrm>
            <a:off x="6308506" y="4246776"/>
            <a:ext cx="5408511" cy="187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89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31485-1A84-FD2B-8A5E-E56523D5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AE9C8-64B9-830E-0178-B390FCDA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ko-KR"/>
              <a:t>돌보기 - 재우기</a:t>
            </a:r>
            <a:endParaRPr lang="ko-KR" altLang="en-US"/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485A5B-06EE-7CD6-02D4-B6C60C402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강아지</a:t>
            </a:r>
          </a:p>
        </p:txBody>
      </p:sp>
      <p:pic>
        <p:nvPicPr>
          <p:cNvPr id="7" name="내용 개체 틀 6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B349D1-E1A5-12E6-80B6-29C2414794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-203" t="454" b="167"/>
          <a:stretch>
            <a:fillRect/>
          </a:stretch>
        </p:blipFill>
        <p:spPr>
          <a:xfrm>
            <a:off x="609600" y="2389309"/>
            <a:ext cx="5168231" cy="166220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F2F236C-F55F-E69C-152D-FB87ED905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/>
              <a:t>고양이</a:t>
            </a:r>
          </a:p>
        </p:txBody>
      </p:sp>
      <p:pic>
        <p:nvPicPr>
          <p:cNvPr id="9" name="그림 8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B479A9-C885-F25E-45EB-390D120FE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77" y="4215269"/>
            <a:ext cx="5382244" cy="1843503"/>
          </a:xfrm>
          <a:prstGeom prst="rect">
            <a:avLst/>
          </a:prstGeom>
        </p:spPr>
      </p:pic>
      <p:pic>
        <p:nvPicPr>
          <p:cNvPr id="10" name="그림 9" descr="텍스트, 폰트, 스크린샷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7CC165-2E35-2517-FE29-A34C889103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97" r="7492" b="-633"/>
          <a:stretch>
            <a:fillRect/>
          </a:stretch>
        </p:blipFill>
        <p:spPr>
          <a:xfrm>
            <a:off x="6189870" y="2391167"/>
            <a:ext cx="5373324" cy="1668629"/>
          </a:xfrm>
          <a:prstGeom prst="rect">
            <a:avLst/>
          </a:prstGeom>
        </p:spPr>
      </p:pic>
      <p:pic>
        <p:nvPicPr>
          <p:cNvPr id="13" name="내용 개체 틀 1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D26388-694F-C175-8AD5-3D9E67941B3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08555" y="4211628"/>
            <a:ext cx="5183189" cy="184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89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A0481-BCDE-BAC2-EFE8-AB9F9D40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5793D-3C55-9D4B-0710-8E6FA99B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ko-KR"/>
              <a:t>돌보기 - </a:t>
            </a:r>
            <a:r>
              <a:rPr lang="ko-KR" altLang="en-US"/>
              <a:t>놀아주기</a:t>
            </a:r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724DCA-937D-D1C1-E42B-DEED61B71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강아지</a:t>
            </a:r>
          </a:p>
        </p:txBody>
      </p:sp>
      <p:pic>
        <p:nvPicPr>
          <p:cNvPr id="8" name="내용 개체 틀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571EE-79B6-670B-D576-EEF90E9C50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" y="2531932"/>
            <a:ext cx="5157787" cy="2959542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C1F1BE-6F2B-D8BD-08D6-F6E346885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/>
              <a:t>고양이</a:t>
            </a:r>
          </a:p>
        </p:txBody>
      </p:sp>
      <p:pic>
        <p:nvPicPr>
          <p:cNvPr id="9" name="내용 개체 틀 8" descr="텍스트, 스크린샷, 폰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348129-34F2-35B5-60EB-BB69191C139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80850" y="2537009"/>
            <a:ext cx="5055533" cy="294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6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B79E3-29C8-26F3-A8BC-77E0F807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78B10-C3BA-7C29-C23A-0B57E193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ko-KR"/>
              <a:t>돌보기 - </a:t>
            </a:r>
            <a:r>
              <a:rPr lang="ko-KR" altLang="en-US"/>
              <a:t>놀아주기</a:t>
            </a:r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B5AB68-D7E0-B63B-08B7-77AEFAE1E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강아지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C176B3-3335-AA3B-B784-911995EAB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/>
              <a:t>고양이</a:t>
            </a:r>
          </a:p>
        </p:txBody>
      </p:sp>
      <p:pic>
        <p:nvPicPr>
          <p:cNvPr id="11" name="내용 개체 틀 10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5BC35D-6EF0-0A7B-E779-042E5C24F0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4121" y="2219453"/>
            <a:ext cx="5157787" cy="2054053"/>
          </a:xfrm>
          <a:prstGeom prst="rect">
            <a:avLst/>
          </a:prstGeom>
        </p:spPr>
      </p:pic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53D814-E25D-AEB9-11E6-A494ABF4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423" y="4471988"/>
            <a:ext cx="5194909" cy="2026738"/>
          </a:xfrm>
          <a:prstGeom prst="rect">
            <a:avLst/>
          </a:prstGeom>
        </p:spPr>
      </p:pic>
      <p:pic>
        <p:nvPicPr>
          <p:cNvPr id="13" name="그림 1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AFDC15-C935-97BC-AC38-97678BD6A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36" y="2216390"/>
            <a:ext cx="5382408" cy="2039003"/>
          </a:xfrm>
          <a:prstGeom prst="rect">
            <a:avLst/>
          </a:prstGeom>
        </p:spPr>
      </p:pic>
      <p:pic>
        <p:nvPicPr>
          <p:cNvPr id="14" name="그림 13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2AE138-32F9-C2C6-5A1B-2A6D23311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53" y="4475314"/>
            <a:ext cx="5391413" cy="203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60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C9EAA-8958-A2DF-B3C1-52DBBFD3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05A79-9CFB-BEA0-C455-CB6D6D75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j-lt"/>
                <a:cs typeface="+mj-lt"/>
              </a:rPr>
              <a:t>4. 저장 후 종료</a:t>
            </a:r>
            <a:endParaRPr lang="ko-KR" altLang="en-US"/>
          </a:p>
        </p:txBody>
      </p:sp>
      <p:pic>
        <p:nvPicPr>
          <p:cNvPr id="7" name="내용 개체 틀 6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90715B-35FE-DEEB-7A15-F7960ACFF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96" y="1934354"/>
            <a:ext cx="5407631" cy="2728015"/>
          </a:xfrm>
          <a:prstGeom prst="rect">
            <a:avLst/>
          </a:prstGeom>
        </p:spPr>
      </p:pic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CCCF25-97CA-9C5F-8A7B-8FDABB6B16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" t="-145" r="10246" b="8057"/>
          <a:stretch>
            <a:fillRect/>
          </a:stretch>
        </p:blipFill>
        <p:spPr>
          <a:xfrm>
            <a:off x="6097019" y="1915727"/>
            <a:ext cx="5728883" cy="2739864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810AD3D6-E998-D3AA-E293-D91BC4ECF80C}"/>
              </a:ext>
            </a:extLst>
          </p:cNvPr>
          <p:cNvSpPr/>
          <p:nvPr/>
        </p:nvSpPr>
        <p:spPr>
          <a:xfrm>
            <a:off x="5409677" y="2872373"/>
            <a:ext cx="886332" cy="689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7B1CD7-D0D1-90DD-C8C2-E966211EED61}"/>
              </a:ext>
            </a:extLst>
          </p:cNvPr>
          <p:cNvSpPr txBox="1"/>
          <p:nvPr/>
        </p:nvSpPr>
        <p:spPr>
          <a:xfrm>
            <a:off x="5395479" y="3711644"/>
            <a:ext cx="898443" cy="369332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/>
              <a:t>세이브</a:t>
            </a:r>
          </a:p>
        </p:txBody>
      </p:sp>
    </p:spTree>
    <p:extLst>
      <p:ext uri="{BB962C8B-B14F-4D97-AF65-F5344CB8AC3E}">
        <p14:creationId xmlns:p14="http://schemas.microsoft.com/office/powerpoint/2010/main" val="121491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82B9C1-6805-4B7C-575C-421A4E2B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5109BFE-7FA2-50DE-350A-099914EEA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반다이남코코리아(BANDAI) 다마고치 파라다이스 블루 워터 - 후기 | 무신사">
            <a:extLst>
              <a:ext uri="{FF2B5EF4-FFF2-40B4-BE49-F238E27FC236}">
                <a16:creationId xmlns:a16="http://schemas.microsoft.com/office/drawing/2014/main" id="{8225B512-5CDC-BD3A-D789-8865C0D2CC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t="24285" b="30715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581BC9D-476C-9B9A-0A12-EE61B7131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ko-KR" altLang="en-US" sz="5400" dirty="0"/>
              <a:t>3. 설계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706332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53D6C-CDB6-FD30-D609-8347BA71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6E40AE-5760-BE77-8BB0-B9F8303E5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서비스 아키텍처</a:t>
            </a:r>
          </a:p>
        </p:txBody>
      </p:sp>
      <p:pic>
        <p:nvPicPr>
          <p:cNvPr id="4" name="내용 개체 틀 5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72A6A5-B44B-40AE-980C-C27488045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388" y="150205"/>
            <a:ext cx="5359999" cy="656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65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CD6B0-850B-7003-C9AB-6575CEC5A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2216CD-F537-4C9A-B930-A7525CFC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z="4000"/>
              <a:t>도메인 구조</a:t>
            </a:r>
          </a:p>
        </p:txBody>
      </p:sp>
      <p:pic>
        <p:nvPicPr>
          <p:cNvPr id="6" name="그림 5" descr="텍스트, 스크린샷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7721C8-3062-C505-31E0-99CCB95BB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224" y="265108"/>
            <a:ext cx="6352972" cy="657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41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4C39C-0C93-72BA-DF96-D5F09A318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59DBC84-B127-62B9-3BD9-D48D97F44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반다이남코코리아(BANDAI) 다마고치 파라다이스 블루 워터 - 후기 | 무신사">
            <a:extLst>
              <a:ext uri="{FF2B5EF4-FFF2-40B4-BE49-F238E27FC236}">
                <a16:creationId xmlns:a16="http://schemas.microsoft.com/office/drawing/2014/main" id="{6F371E64-7CBA-16DA-447C-BEF2FEB2E6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t="24285" b="30715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03C9535-07D8-7CF1-1115-9EDB636BE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ko-KR" altLang="en-US" sz="5400" dirty="0"/>
              <a:t>4. 구현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408636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56F1-8B57-7637-ABAF-8A879968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E9D5E-4EFB-9797-35AE-3409366E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1.  </a:t>
            </a:r>
            <a:r>
              <a:rPr lang="ko-KR" altLang="en-US">
                <a:solidFill>
                  <a:srgbClr val="000000"/>
                </a:solidFill>
                <a:latin typeface="Neue Haas Grotesk Text Pro"/>
                <a:cs typeface="Open Sans"/>
              </a:rPr>
              <a:t>접속 공백 페널티</a:t>
            </a:r>
            <a:endParaRPr lang="ko-KR" altLang="en-US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B041E-CBA9-A147-1D1F-A123A7745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56244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"/>
              <a:buChar char="•"/>
            </a:pPr>
            <a:r>
              <a:rPr lang="ko-KR" altLang="en-US">
                <a:solidFill>
                  <a:srgbClr val="3F4350"/>
                </a:solidFill>
                <a:latin typeface="Open Sans"/>
                <a:ea typeface="Open Sans"/>
                <a:cs typeface="Open Sans"/>
              </a:rPr>
              <a:t>마지막 케어 이후 재접속까지의 시간 간격을 계산</a:t>
            </a:r>
          </a:p>
          <a:p>
            <a:pPr>
              <a:buFont typeface=""/>
              <a:buChar char="•"/>
            </a:pPr>
            <a:r>
              <a:rPr lang="ko-KR" altLang="en-US">
                <a:solidFill>
                  <a:srgbClr val="3F4350"/>
                </a:solidFill>
                <a:latin typeface="Open Sans"/>
                <a:ea typeface="Open Sans"/>
                <a:cs typeface="Open Sans"/>
              </a:rPr>
              <a:t>공백 시간에 비례하여 애정도 하락</a:t>
            </a:r>
            <a:endParaRPr lang="ko-KR" dirty="0">
              <a:cs typeface="Open Sans"/>
            </a:endParaRP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ADFCB3-017B-7652-704F-DEC001F01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01" y="2357910"/>
            <a:ext cx="4406162" cy="3853060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4772DA-D176-6145-8CF1-A6BCE5116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" t="-49" r="2504" b="5408"/>
          <a:stretch>
            <a:fillRect/>
          </a:stretch>
        </p:blipFill>
        <p:spPr>
          <a:xfrm>
            <a:off x="6093228" y="2359323"/>
            <a:ext cx="5479309" cy="3853141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B1C6CEC-9C2A-EB1C-6472-057BEBAE5949}"/>
              </a:ext>
            </a:extLst>
          </p:cNvPr>
          <p:cNvSpPr txBox="1">
            <a:spLocks/>
          </p:cNvSpPr>
          <p:nvPr/>
        </p:nvSpPr>
        <p:spPr>
          <a:xfrm>
            <a:off x="2227595" y="6324773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rgbClr val="3F4350"/>
                </a:solidFill>
                <a:latin typeface="Open Sans"/>
                <a:cs typeface="Open Sans"/>
              </a:rPr>
              <a:t>Main.cpp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56E81C-5FBF-656B-E17E-20048D87540C}"/>
              </a:ext>
            </a:extLst>
          </p:cNvPr>
          <p:cNvSpPr/>
          <p:nvPr/>
        </p:nvSpPr>
        <p:spPr>
          <a:xfrm>
            <a:off x="1128024" y="2359226"/>
            <a:ext cx="424138" cy="1783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6DEEEB-5704-9E25-2658-1F6E29F7F266}"/>
              </a:ext>
            </a:extLst>
          </p:cNvPr>
          <p:cNvSpPr/>
          <p:nvPr/>
        </p:nvSpPr>
        <p:spPr>
          <a:xfrm>
            <a:off x="1556649" y="4764288"/>
            <a:ext cx="3345138" cy="5354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37BAA8-475B-0164-BD82-BCF03062D07C}"/>
              </a:ext>
            </a:extLst>
          </p:cNvPr>
          <p:cNvSpPr/>
          <p:nvPr/>
        </p:nvSpPr>
        <p:spPr>
          <a:xfrm>
            <a:off x="10813537" y="3165029"/>
            <a:ext cx="626398" cy="2626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45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46C4-DDDD-E731-6CD0-BC2BA78F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1A21E-56E9-E810-A10E-5CBF2D4C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2.  종별 감성 밸런스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67FED-80F1-BAB6-4398-C4891851B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sz="2400" b="1" dirty="0">
                <a:solidFill>
                  <a:srgbClr val="3F4350"/>
                </a:solidFill>
                <a:highlight>
                  <a:srgbClr val="FFFFFF"/>
                </a:highlight>
                <a:latin typeface="Open Sans"/>
                <a:cs typeface="Open Sans"/>
              </a:rPr>
              <a:t>강아지</a:t>
            </a:r>
            <a:endParaRPr lang="ko-KR"/>
          </a:p>
          <a:p>
            <a:r>
              <a:rPr lang="ko-KR" dirty="0">
                <a:solidFill>
                  <a:srgbClr val="3F4350"/>
                </a:solidFill>
                <a:highlight>
                  <a:srgbClr val="FFFFFF"/>
                </a:highlight>
                <a:latin typeface="Open Sans"/>
                <a:cs typeface="Open Sans"/>
              </a:rPr>
              <a:t>주인 부재에 민감</a:t>
            </a:r>
            <a:r>
              <a:rPr lang="en-US" altLang="ko-KR" dirty="0">
                <a:solidFill>
                  <a:srgbClr val="3F435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</a:t>
            </a:r>
            <a:r>
              <a:rPr lang="ko-KR" dirty="0">
                <a:solidFill>
                  <a:srgbClr val="3F4350"/>
                </a:solidFill>
                <a:highlight>
                  <a:srgbClr val="FFFFFF"/>
                </a:highlight>
                <a:latin typeface="Open Sans"/>
                <a:cs typeface="Open Sans"/>
              </a:rPr>
              <a:t> 애정도 하락 속도 빠름</a:t>
            </a:r>
            <a:endParaRPr lang="ko-KR"/>
          </a:p>
          <a:p>
            <a:r>
              <a:rPr lang="ko-KR" dirty="0">
                <a:solidFill>
                  <a:srgbClr val="3F4350"/>
                </a:solidFill>
                <a:highlight>
                  <a:srgbClr val="FFFFFF"/>
                </a:highlight>
                <a:latin typeface="Open Sans"/>
                <a:cs typeface="Open Sans"/>
              </a:rPr>
              <a:t>교감 시 행복도 상승폭 큼</a:t>
            </a:r>
            <a:endParaRPr lang="ko-KR"/>
          </a:p>
          <a:p>
            <a:pPr marL="0" indent="0">
              <a:buNone/>
            </a:pPr>
            <a:endParaRPr lang="ko-KR" sz="2400" b="1" dirty="0">
              <a:solidFill>
                <a:srgbClr val="3F4350"/>
              </a:solidFill>
              <a:highlight>
                <a:srgbClr val="FFFFFF"/>
              </a:highlight>
              <a:latin typeface="Open Sans"/>
              <a:cs typeface="Open Sans"/>
            </a:endParaRPr>
          </a:p>
          <a:p>
            <a:pPr marL="0" indent="0">
              <a:buNone/>
            </a:pPr>
            <a:r>
              <a:rPr lang="ko-KR" sz="2400" b="1" dirty="0">
                <a:solidFill>
                  <a:srgbClr val="3F4350"/>
                </a:solidFill>
                <a:highlight>
                  <a:srgbClr val="FFFFFF"/>
                </a:highlight>
                <a:latin typeface="Open Sans"/>
                <a:cs typeface="Open Sans"/>
              </a:rPr>
              <a:t>고양이</a:t>
            </a:r>
            <a:endParaRPr lang="ko-KR" sz="2400"/>
          </a:p>
          <a:p>
            <a:r>
              <a:rPr lang="ko-KR" dirty="0">
                <a:solidFill>
                  <a:srgbClr val="3F4350"/>
                </a:solidFill>
                <a:highlight>
                  <a:srgbClr val="FFFFFF"/>
                </a:highlight>
                <a:latin typeface="Open Sans"/>
                <a:cs typeface="Open Sans"/>
              </a:rPr>
              <a:t>비교적 독립적</a:t>
            </a:r>
            <a:endParaRPr lang="ko-KR"/>
          </a:p>
          <a:p>
            <a:r>
              <a:rPr lang="ko-KR" dirty="0">
                <a:solidFill>
                  <a:srgbClr val="3F4350"/>
                </a:solidFill>
                <a:highlight>
                  <a:srgbClr val="FFFFFF"/>
                </a:highlight>
                <a:latin typeface="Open Sans"/>
                <a:cs typeface="Open Sans"/>
              </a:rPr>
              <a:t>애정도 하락 속도 완만</a:t>
            </a:r>
            <a:endParaRPr lang="ko-KR" sz="2400"/>
          </a:p>
          <a:p>
            <a:endParaRPr lang="ko-KR" sz="2400" b="1" dirty="0">
              <a:solidFill>
                <a:srgbClr val="3F4350"/>
              </a:solidFill>
              <a:highlight>
                <a:srgbClr val="FFFFFF"/>
              </a:highlight>
              <a:latin typeface="Open Sans"/>
              <a:cs typeface="Open Sans"/>
            </a:endParaRPr>
          </a:p>
        </p:txBody>
      </p:sp>
      <p:pic>
        <p:nvPicPr>
          <p:cNvPr id="4" name="그림 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54BC8B-E16D-160A-3230-8D6F589AB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899" y="4013875"/>
            <a:ext cx="5886450" cy="1857375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385A043-C7D0-3E31-BBDC-5F132B6DF2BC}"/>
              </a:ext>
            </a:extLst>
          </p:cNvPr>
          <p:cNvSpPr txBox="1">
            <a:spLocks/>
          </p:cNvSpPr>
          <p:nvPr/>
        </p:nvSpPr>
        <p:spPr>
          <a:xfrm>
            <a:off x="8396664" y="607425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rgbClr val="3F4350"/>
                </a:solidFill>
                <a:latin typeface="Open Sans"/>
                <a:cs typeface="Open Sans"/>
              </a:rPr>
              <a:t>Cat.cpp</a:t>
            </a:r>
            <a:endParaRPr lang="ko-KR" dirty="0"/>
          </a:p>
        </p:txBody>
      </p:sp>
      <p:pic>
        <p:nvPicPr>
          <p:cNvPr id="7" name="그림 6" descr="텍스트, 스크린샷, 폰트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70882C-20C8-06F8-0B54-75DEBEB9E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810" y="1607573"/>
            <a:ext cx="5896627" cy="184745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C188E7C-B3A1-F23E-E872-F050E9615DAD}"/>
              </a:ext>
            </a:extLst>
          </p:cNvPr>
          <p:cNvSpPr txBox="1">
            <a:spLocks/>
          </p:cNvSpPr>
          <p:nvPr/>
        </p:nvSpPr>
        <p:spPr>
          <a:xfrm>
            <a:off x="8396663" y="3454224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rgbClr val="3F4350"/>
                </a:solidFill>
                <a:latin typeface="Open Sans"/>
                <a:cs typeface="Open Sans"/>
              </a:rPr>
              <a:t>Dog.cpp</a:t>
            </a:r>
            <a:endParaRPr 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BBA4D2-152C-EE7E-5E51-8D78D20CF319}"/>
              </a:ext>
            </a:extLst>
          </p:cNvPr>
          <p:cNvSpPr/>
          <p:nvPr/>
        </p:nvSpPr>
        <p:spPr>
          <a:xfrm>
            <a:off x="8766964" y="2505366"/>
            <a:ext cx="350481" cy="3724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DF45E5-DC8F-51AA-13C5-DBC346D589E1}"/>
              </a:ext>
            </a:extLst>
          </p:cNvPr>
          <p:cNvSpPr/>
          <p:nvPr/>
        </p:nvSpPr>
        <p:spPr>
          <a:xfrm>
            <a:off x="8662579" y="4937502"/>
            <a:ext cx="350481" cy="3724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066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82C20-CA66-E451-A6F5-0645E0E8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F0C2A-3D30-F52F-5515-CBFC71DB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3.  레벨 기반 콘텐츠 해금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9AD1F-30F2-5E21-B67E-D859A8245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91943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dirty="0"/>
              <a:t>레벨 상승 시 새로운 놀아주기 기능을 순차적으로 해금</a:t>
            </a:r>
          </a:p>
          <a:p>
            <a:endParaRPr lang="ko-KR" dirty="0"/>
          </a:p>
          <a:p>
            <a:endParaRPr lang="ko-KR" altLang="en-US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7EB3BB-8BB8-0254-0AD7-8BF7A237E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53" y="4784486"/>
            <a:ext cx="4863362" cy="1537440"/>
          </a:xfrm>
          <a:prstGeom prst="rect">
            <a:avLst/>
          </a:prstGeom>
        </p:spPr>
      </p:pic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961AA7-BCAF-492B-8A90-605C6B5A2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65" y="2074103"/>
            <a:ext cx="4863100" cy="2626291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DF37557-BFF5-0E93-7A93-30A42DC43AA7}"/>
              </a:ext>
            </a:extLst>
          </p:cNvPr>
          <p:cNvSpPr txBox="1">
            <a:spLocks/>
          </p:cNvSpPr>
          <p:nvPr/>
        </p:nvSpPr>
        <p:spPr>
          <a:xfrm>
            <a:off x="1956199" y="6418718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rgbClr val="3F4350"/>
                </a:solidFill>
                <a:latin typeface="Open Sans"/>
                <a:cs typeface="Open Sans"/>
              </a:rPr>
              <a:t>Dog.cpp / Cat.cpp</a:t>
            </a:r>
          </a:p>
        </p:txBody>
      </p:sp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719228-8CA8-2127-AD72-BF07B2701E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06" r="-293" b="6173"/>
          <a:stretch>
            <a:fillRect/>
          </a:stretch>
        </p:blipFill>
        <p:spPr>
          <a:xfrm>
            <a:off x="6571728" y="2074271"/>
            <a:ext cx="4699276" cy="2099152"/>
          </a:xfrm>
          <a:prstGeom prst="rect">
            <a:avLst/>
          </a:prstGeom>
        </p:spPr>
      </p:pic>
      <p:pic>
        <p:nvPicPr>
          <p:cNvPr id="9" name="그림 8" descr="텍스트, 스크린샷, 폰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CF2073-7AC4-5001-724B-A2CD2CDBB4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" t="-2028" r="274" b="4990"/>
          <a:stretch>
            <a:fillRect/>
          </a:stretch>
        </p:blipFill>
        <p:spPr>
          <a:xfrm>
            <a:off x="6570106" y="4295342"/>
            <a:ext cx="4701312" cy="212893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F3CC704-7CEE-6434-5A0F-14C7AA7A06F2}"/>
              </a:ext>
            </a:extLst>
          </p:cNvPr>
          <p:cNvSpPr/>
          <p:nvPr/>
        </p:nvSpPr>
        <p:spPr>
          <a:xfrm>
            <a:off x="1236389" y="3244017"/>
            <a:ext cx="833782" cy="161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ABD73E-77A3-4723-137B-8ECC5AF63ED0}"/>
              </a:ext>
            </a:extLst>
          </p:cNvPr>
          <p:cNvSpPr/>
          <p:nvPr/>
        </p:nvSpPr>
        <p:spPr>
          <a:xfrm>
            <a:off x="2064649" y="3383163"/>
            <a:ext cx="1098825" cy="1544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C74A56-B778-C994-F9AF-E5EE9B655A01}"/>
              </a:ext>
            </a:extLst>
          </p:cNvPr>
          <p:cNvSpPr/>
          <p:nvPr/>
        </p:nvSpPr>
        <p:spPr>
          <a:xfrm>
            <a:off x="2064971" y="4967764"/>
            <a:ext cx="730210" cy="183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E196CA5-5CBB-5557-AD33-A15208EB3BC5}"/>
              </a:ext>
            </a:extLst>
          </p:cNvPr>
          <p:cNvCxnSpPr/>
          <p:nvPr/>
        </p:nvCxnSpPr>
        <p:spPr>
          <a:xfrm flipV="1">
            <a:off x="2072540" y="5760565"/>
            <a:ext cx="2837893" cy="10358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356F0E-C6B2-165B-E068-0F35E8F1A7D4}"/>
              </a:ext>
            </a:extLst>
          </p:cNvPr>
          <p:cNvSpPr/>
          <p:nvPr/>
        </p:nvSpPr>
        <p:spPr>
          <a:xfrm>
            <a:off x="7137034" y="2348388"/>
            <a:ext cx="1444585" cy="2468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C1B5C3-8368-D0D6-0D91-56D40FD68811}"/>
              </a:ext>
            </a:extLst>
          </p:cNvPr>
          <p:cNvSpPr/>
          <p:nvPr/>
        </p:nvSpPr>
        <p:spPr>
          <a:xfrm>
            <a:off x="7137034" y="4697888"/>
            <a:ext cx="1444585" cy="2468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5BC4B63-8BB3-7D09-1D99-86AB9DC3C453}"/>
              </a:ext>
            </a:extLst>
          </p:cNvPr>
          <p:cNvSpPr/>
          <p:nvPr/>
        </p:nvSpPr>
        <p:spPr>
          <a:xfrm>
            <a:off x="6906847" y="2808763"/>
            <a:ext cx="1889085" cy="437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3D79B2-9E74-8E42-09CB-915751729D46}"/>
              </a:ext>
            </a:extLst>
          </p:cNvPr>
          <p:cNvSpPr/>
          <p:nvPr/>
        </p:nvSpPr>
        <p:spPr>
          <a:xfrm>
            <a:off x="6906847" y="5150326"/>
            <a:ext cx="2198647" cy="3976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13FB678-536A-A05F-112E-09D3645EDA81}"/>
              </a:ext>
            </a:extLst>
          </p:cNvPr>
          <p:cNvCxnSpPr/>
          <p:nvPr/>
        </p:nvCxnSpPr>
        <p:spPr>
          <a:xfrm flipH="1">
            <a:off x="7566624" y="2484325"/>
            <a:ext cx="133350" cy="44608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2E108A1-C179-4A15-24F7-5875A6E24AB8}"/>
              </a:ext>
            </a:extLst>
          </p:cNvPr>
          <p:cNvCxnSpPr>
            <a:cxnSpLocks/>
          </p:cNvCxnSpPr>
          <p:nvPr/>
        </p:nvCxnSpPr>
        <p:spPr>
          <a:xfrm flipH="1">
            <a:off x="7669811" y="4833825"/>
            <a:ext cx="133350" cy="44608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721605DD-23C1-7E94-AE73-97E52FE36289}"/>
              </a:ext>
            </a:extLst>
          </p:cNvPr>
          <p:cNvSpPr/>
          <p:nvPr/>
        </p:nvSpPr>
        <p:spPr>
          <a:xfrm>
            <a:off x="5716555" y="3927874"/>
            <a:ext cx="765067" cy="490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545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A2BC-59F0-AB10-3845-C8ADB971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94034-E41E-7DEA-134E-A880E918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4. 애니메이션</a:t>
            </a:r>
            <a:endParaRPr 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41FB91-4A06-8B49-97A4-B5B4B1420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02381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 err="1"/>
              <a:t>반복문을</a:t>
            </a:r>
            <a:r>
              <a:rPr lang="en-US" altLang="ko-KR" dirty="0"/>
              <a:t> </a:t>
            </a:r>
            <a:r>
              <a:rPr lang="en-US" altLang="ko-KR" dirty="0" err="1"/>
              <a:t>활용한</a:t>
            </a:r>
            <a:r>
              <a:rPr lang="en-US" altLang="ko-KR" dirty="0"/>
              <a:t> </a:t>
            </a:r>
            <a:r>
              <a:rPr lang="en-US" altLang="ko-KR" dirty="0" err="1"/>
              <a:t>출력으로</a:t>
            </a:r>
            <a:r>
              <a:rPr lang="en-US" altLang="ko-KR" dirty="0"/>
              <a:t> </a:t>
            </a:r>
            <a:r>
              <a:rPr lang="en-US" altLang="ko-KR" dirty="0" err="1"/>
              <a:t>애니메이션</a:t>
            </a:r>
            <a:r>
              <a:rPr lang="en-US" altLang="ko-KR" dirty="0"/>
              <a:t> </a:t>
            </a:r>
            <a:r>
              <a:rPr lang="en-US" altLang="ko-KR" dirty="0" err="1"/>
              <a:t>효과</a:t>
            </a:r>
            <a:r>
              <a:rPr lang="en-US" altLang="ko-KR" dirty="0"/>
              <a:t> </a:t>
            </a:r>
            <a:r>
              <a:rPr lang="en-US" altLang="ko-KR" dirty="0" err="1"/>
              <a:t>구현</a:t>
            </a:r>
            <a:r>
              <a:rPr lang="en-US" altLang="ko-KR" dirty="0"/>
              <a:t> </a:t>
            </a: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CAC377-4EEF-4263-466F-73D48E782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54" y="2105351"/>
            <a:ext cx="5143761" cy="2448969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F6AD53-0206-C3A4-5FD2-6ED878120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93" y="4696608"/>
            <a:ext cx="4419600" cy="16192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6296CE9-8DF7-E755-2699-293457794442}"/>
              </a:ext>
            </a:extLst>
          </p:cNvPr>
          <p:cNvSpPr/>
          <p:nvPr/>
        </p:nvSpPr>
        <p:spPr>
          <a:xfrm>
            <a:off x="813598" y="2308012"/>
            <a:ext cx="1871263" cy="1858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007E69-3CDA-B3E5-DF6E-10870F55ADDF}"/>
              </a:ext>
            </a:extLst>
          </p:cNvPr>
          <p:cNvSpPr/>
          <p:nvPr/>
        </p:nvSpPr>
        <p:spPr>
          <a:xfrm>
            <a:off x="1064118" y="2652477"/>
            <a:ext cx="2988167" cy="6451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24E2E-FED9-AEBA-957F-674DB6DF6E22}"/>
              </a:ext>
            </a:extLst>
          </p:cNvPr>
          <p:cNvSpPr txBox="1"/>
          <p:nvPr/>
        </p:nvSpPr>
        <p:spPr>
          <a:xfrm>
            <a:off x="4213820" y="2795739"/>
            <a:ext cx="425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9E1930-CB52-0BD6-171C-8B6E8990FDB6}"/>
              </a:ext>
            </a:extLst>
          </p:cNvPr>
          <p:cNvSpPr txBox="1"/>
          <p:nvPr/>
        </p:nvSpPr>
        <p:spPr>
          <a:xfrm>
            <a:off x="2126148" y="3850012"/>
            <a:ext cx="425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1699EC-42D5-6DBE-440E-426269ABE219}"/>
              </a:ext>
            </a:extLst>
          </p:cNvPr>
          <p:cNvSpPr/>
          <p:nvPr/>
        </p:nvSpPr>
        <p:spPr>
          <a:xfrm>
            <a:off x="1064118" y="3717189"/>
            <a:ext cx="1077948" cy="1753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504810-38E1-2B6A-1508-99D5653EAB16}"/>
              </a:ext>
            </a:extLst>
          </p:cNvPr>
          <p:cNvSpPr/>
          <p:nvPr/>
        </p:nvSpPr>
        <p:spPr>
          <a:xfrm>
            <a:off x="1262447" y="5324696"/>
            <a:ext cx="3593591" cy="801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C1A45FF-1CA1-7940-AE11-42DF71B7A3E5}"/>
              </a:ext>
            </a:extLst>
          </p:cNvPr>
          <p:cNvCxnSpPr/>
          <p:nvPr/>
        </p:nvCxnSpPr>
        <p:spPr>
          <a:xfrm>
            <a:off x="1776973" y="3884825"/>
            <a:ext cx="699012" cy="1432343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F773BE-64A8-6CE1-CA26-D6A6839838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8" t="7653" r="2632" b="11848"/>
          <a:stretch>
            <a:fillRect/>
          </a:stretch>
        </p:blipFill>
        <p:spPr>
          <a:xfrm>
            <a:off x="6692531" y="2344722"/>
            <a:ext cx="5396565" cy="1648520"/>
          </a:xfrm>
          <a:prstGeom prst="rect">
            <a:avLst/>
          </a:prstGeom>
        </p:spPr>
      </p:pic>
      <p:pic>
        <p:nvPicPr>
          <p:cNvPr id="18" name="그림 1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2B924F-8DD5-3B75-5EAB-309EDBC29A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671" b="6710"/>
          <a:stretch>
            <a:fillRect/>
          </a:stretch>
        </p:blipFill>
        <p:spPr>
          <a:xfrm>
            <a:off x="6693738" y="4225899"/>
            <a:ext cx="5408511" cy="1879790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AC9C061-74A3-5B26-17FA-498E4A1E4A00}"/>
              </a:ext>
            </a:extLst>
          </p:cNvPr>
          <p:cNvSpPr/>
          <p:nvPr/>
        </p:nvSpPr>
        <p:spPr>
          <a:xfrm>
            <a:off x="5819529" y="3845495"/>
            <a:ext cx="765067" cy="490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896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59DE7E-8770-90C8-6480-F9D5CEB3F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C5462E9-4886-A8EB-011F-BB225DBE9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반다이남코코리아(BANDAI) 다마고치 파라다이스 블루 워터 - 후기 | 무신사">
            <a:extLst>
              <a:ext uri="{FF2B5EF4-FFF2-40B4-BE49-F238E27FC236}">
                <a16:creationId xmlns:a16="http://schemas.microsoft.com/office/drawing/2014/main" id="{B39D129D-4E32-FDF8-07DB-2825EB0BFD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t="24285" b="30715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97DC037-298D-436E-2459-319058187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ko-KR" altLang="en-US" sz="5400" err="1"/>
              <a:t>Q</a:t>
            </a:r>
            <a:r>
              <a:rPr lang="ko-KR" altLang="en-US" sz="5400"/>
              <a:t> &amp; </a:t>
            </a:r>
            <a:r>
              <a:rPr lang="ko-KR" altLang="en-US" sz="5400" err="1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18021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831623-6CF9-FE5D-1A9A-589B6903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C44357B-9281-F542-299C-4105D2FB6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반다이남코코리아(BANDAI) 다마고치 파라다이스 블루 워터 - 후기 | 무신사">
            <a:extLst>
              <a:ext uri="{FF2B5EF4-FFF2-40B4-BE49-F238E27FC236}">
                <a16:creationId xmlns:a16="http://schemas.microsoft.com/office/drawing/2014/main" id="{501798C8-2F1B-50B9-E232-F2B26EC024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t="24285" b="30715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B7E461-18E4-E852-6E6B-EEBFFB915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ko-KR" altLang="en-US" sz="5400"/>
              <a:t>감사합니다 :&gt; </a:t>
            </a:r>
          </a:p>
        </p:txBody>
      </p:sp>
    </p:spTree>
    <p:extLst>
      <p:ext uri="{BB962C8B-B14F-4D97-AF65-F5344CB8AC3E}">
        <p14:creationId xmlns:p14="http://schemas.microsoft.com/office/powerpoint/2010/main" val="1448051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24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VanillaVTI</vt:lpstr>
      <vt:lpstr>SCSA Gotchi 강아지 고양이 키우기</vt:lpstr>
      <vt:lpstr>목차</vt:lpstr>
      <vt:lpstr>프로젝트 개요</vt:lpstr>
      <vt:lpstr>서비스 소개</vt:lpstr>
      <vt:lpstr>유저 플로우 </vt:lpstr>
      <vt:lpstr>2. 핵심 기능 </vt:lpstr>
      <vt:lpstr>데이터 로드 및 목록보기</vt:lpstr>
      <vt:lpstr>2. 생성하기</vt:lpstr>
      <vt:lpstr>3. 돌보기 </vt:lpstr>
      <vt:lpstr>3. 돌보기 - 먹이주기</vt:lpstr>
      <vt:lpstr>3. 돌보기 - 재우기 </vt:lpstr>
      <vt:lpstr>3. 돌보기 - 놀아주기 </vt:lpstr>
      <vt:lpstr>3. 돌보기 - 놀아주기 </vt:lpstr>
      <vt:lpstr>4. 저장 후 종료</vt:lpstr>
      <vt:lpstr>3. 설계</vt:lpstr>
      <vt:lpstr>서비스 아키텍처</vt:lpstr>
      <vt:lpstr>도메인 구조</vt:lpstr>
      <vt:lpstr>4. 구현</vt:lpstr>
      <vt:lpstr>1.  접속 공백 페널티</vt:lpstr>
      <vt:lpstr>2.  종별 감성 밸런스</vt:lpstr>
      <vt:lpstr>3.  레벨 기반 콘텐츠 해금 </vt:lpstr>
      <vt:lpstr>4. 애니메이션</vt:lpstr>
      <vt:lpstr>Q &amp; A</vt:lpstr>
      <vt:lpstr>감사합니다 :&gt;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402</cp:revision>
  <dcterms:created xsi:type="dcterms:W3CDTF">2026-01-07T05:58:11Z</dcterms:created>
  <dcterms:modified xsi:type="dcterms:W3CDTF">2026-01-08T03:05:51Z</dcterms:modified>
</cp:coreProperties>
</file>